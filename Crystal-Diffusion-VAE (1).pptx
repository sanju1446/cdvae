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Medium"/>
      <p:regular r:id="rId17"/>
    </p:embeddedFont>
    <p:embeddedFont>
      <p:font typeface="Roboto Medium"/>
      <p:regular r:id="rId18"/>
    </p:embeddedFont>
    <p:embeddedFont>
      <p:font typeface="Roboto Medium"/>
      <p:regular r:id="rId19"/>
    </p:embeddedFont>
    <p:embeddedFont>
      <p:font typeface="Roboto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605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Crystal Diffusion VAE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094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for Inverse Materials Design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735116"/>
            <a:ext cx="1619012" cy="426244"/>
          </a:xfrm>
          <a:prstGeom prst="roundRect">
            <a:avLst>
              <a:gd name="adj" fmla="val 17880"/>
            </a:avLst>
          </a:prstGeom>
          <a:solidFill>
            <a:srgbClr val="0F163E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4803100"/>
            <a:ext cx="134683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26149" y="4727496"/>
            <a:ext cx="202525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5A6E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69858" y="4803100"/>
            <a:ext cx="173783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MATERIALS SCIENCE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4750" y="4727496"/>
            <a:ext cx="261497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5A6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8458" y="4803100"/>
            <a:ext cx="23275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 NEURAL NETWORKS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59475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Abstract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554599"/>
            <a:ext cx="8264247" cy="4682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4648" y="3346728"/>
            <a:ext cx="4238506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CDVAE encodes crystal structures into 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latent space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periodic graph neural networks, then generates novel materials through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annealed Langevin diffusion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34628" y="6587371"/>
            <a:ext cx="4216598" cy="1082635"/>
          </a:xfrm>
          <a:prstGeom prst="roundRect">
            <a:avLst>
              <a:gd name="adj" fmla="val 728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5250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Encode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5250" y="7184708"/>
            <a:ext cx="379535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Crystal → Latent vector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06722" y="6587371"/>
            <a:ext cx="4216718" cy="1082635"/>
          </a:xfrm>
          <a:prstGeom prst="roundRect">
            <a:avLst>
              <a:gd name="adj" fmla="val 728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7344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Predict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17344" y="7184708"/>
            <a:ext cx="379547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Latent → Properties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578935" y="6587371"/>
            <a:ext cx="4216718" cy="1082635"/>
          </a:xfrm>
          <a:prstGeom prst="roundRect">
            <a:avLst>
              <a:gd name="adj" fmla="val 728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9557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789557" y="7184708"/>
            <a:ext cx="379547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Latent → New crystal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841"/>
            <a:ext cx="82511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Problem — And Our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05595"/>
            <a:ext cx="29401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Existing Model Failures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515076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515076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277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Lattice Collapse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353514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Zero-volume unit cells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20052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310" y="4200525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1142524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Scale Bias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2524" y="503896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Errors unequal across scales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885974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885974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6143268"/>
            <a:ext cx="30432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Disconnected Geometry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672441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Atoms outside containers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36168" y="1678781"/>
            <a:ext cx="6571417" cy="5920978"/>
          </a:xfrm>
          <a:prstGeom prst="roundRect">
            <a:avLst>
              <a:gd name="adj" fmla="val 2758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62982" y="1905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v4 Enhancements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662982" y="2515076"/>
            <a:ext cx="2945487" cy="1812965"/>
          </a:xfrm>
          <a:prstGeom prst="roundRect">
            <a:avLst>
              <a:gd name="adj" fmla="val 8070"/>
            </a:avLst>
          </a:prstGeom>
          <a:solidFill>
            <a:srgbClr val="5A6ED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2502" y="2515076"/>
            <a:ext cx="121920" cy="1812965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20" name="Text 18"/>
          <p:cNvSpPr/>
          <p:nvPr/>
        </p:nvSpPr>
        <p:spPr>
          <a:xfrm>
            <a:off x="8011716" y="2772370"/>
            <a:ext cx="23394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Log-Space Training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11716" y="3707844"/>
            <a:ext cx="23394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Scale-invariant loss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10835283" y="2515076"/>
            <a:ext cx="2945487" cy="1812965"/>
          </a:xfrm>
          <a:prstGeom prst="roundRect">
            <a:avLst>
              <a:gd name="adj" fmla="val 8070"/>
            </a:avLst>
          </a:prstGeom>
          <a:solidFill>
            <a:srgbClr val="5A6ED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04803" y="2515076"/>
            <a:ext cx="121920" cy="1812965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24" name="Text 22"/>
          <p:cNvSpPr/>
          <p:nvPr/>
        </p:nvSpPr>
        <p:spPr>
          <a:xfrm>
            <a:off x="11184017" y="2772370"/>
            <a:ext cx="23394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Boundary Clamping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184017" y="3707844"/>
            <a:ext cx="23394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2.5–25 Å limits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7662982" y="4554855"/>
            <a:ext cx="2945487" cy="2175867"/>
          </a:xfrm>
          <a:prstGeom prst="roundRect">
            <a:avLst>
              <a:gd name="adj" fmla="val 6724"/>
            </a:avLst>
          </a:prstGeom>
          <a:solidFill>
            <a:srgbClr val="5A6ED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2502" y="4554855"/>
            <a:ext cx="121920" cy="2175867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28" name="Text 26"/>
          <p:cNvSpPr/>
          <p:nvPr/>
        </p:nvSpPr>
        <p:spPr>
          <a:xfrm>
            <a:off x="8011716" y="4812149"/>
            <a:ext cx="23394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Overlap Penalties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011716" y="5393293"/>
            <a:ext cx="23394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Repulsion loss enforces physics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10835283" y="4554855"/>
            <a:ext cx="2945487" cy="2175867"/>
          </a:xfrm>
          <a:prstGeom prst="roundRect">
            <a:avLst>
              <a:gd name="adj" fmla="val 6724"/>
            </a:avLst>
          </a:prstGeom>
          <a:solidFill>
            <a:srgbClr val="5A6ED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04803" y="4554855"/>
            <a:ext cx="121920" cy="2175867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32" name="Text 30"/>
          <p:cNvSpPr/>
          <p:nvPr/>
        </p:nvSpPr>
        <p:spPr>
          <a:xfrm>
            <a:off x="11184017" y="4812149"/>
            <a:ext cx="23394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Density Regularizer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1184017" y="5747623"/>
            <a:ext cx="23394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Volume–atom consistency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821"/>
            <a:ext cx="6083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V-Shaped Workflow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25" y="2018228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4546" y="3224954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Decoder + Diffusion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226177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Property Predictor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307" y="3226177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Latent Space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3493" y="3226177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Encoder</a:t>
            </a:r>
            <a:endParaRPr lang="en-US" sz="23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3636" y="3226177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 Crystal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7010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crystal data is compressed to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latent point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then reconstructed into a physically valid structure via diffusion.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611505"/>
            <a:ext cx="5274945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1 — The Encoder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1" y="2149197"/>
            <a:ext cx="8420100" cy="4771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7034" y="1633299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607034" y="1935599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6" name="Text 3"/>
          <p:cNvSpPr/>
          <p:nvPr/>
        </p:nvSpPr>
        <p:spPr>
          <a:xfrm>
            <a:off x="9607034" y="207692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 Graph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607034" y="2537341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Atoms as nodes, bonds as edges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7034" y="3124438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607034" y="3426738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0" name="Text 7"/>
          <p:cNvSpPr/>
          <p:nvPr/>
        </p:nvSpPr>
        <p:spPr>
          <a:xfrm>
            <a:off x="9607034" y="356806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Periodic GNN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607034" y="4028480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Cross-boundary distances via PBC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7034" y="4615577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07034" y="4917877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4" name="Text 11"/>
          <p:cNvSpPr/>
          <p:nvPr/>
        </p:nvSpPr>
        <p:spPr>
          <a:xfrm>
            <a:off x="9607034" y="505920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Feature Extraction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607034" y="5519618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numbers → high-dim vectors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7034" y="6106716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607034" y="6409015"/>
            <a:ext cx="4318397" cy="2286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8" name="Text 15"/>
          <p:cNvSpPr/>
          <p:nvPr/>
        </p:nvSpPr>
        <p:spPr>
          <a:xfrm>
            <a:off x="9607034" y="655034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Bottleneck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9607034" y="7010757"/>
            <a:ext cx="43183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μ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latent sampling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74715"/>
            <a:ext cx="6203037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2 — The Latent Space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569839"/>
            <a:ext cx="8264247" cy="4682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4648" y="3419951"/>
            <a:ext cx="297715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Continuous Chemical 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64648" y="3868936"/>
            <a:ext cx="4238506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point encodes 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 material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Smooth interpolation transitions between phases.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34628" y="6602611"/>
            <a:ext cx="4216598" cy="1052155"/>
          </a:xfrm>
          <a:prstGeom prst="roundRect">
            <a:avLst>
              <a:gd name="adj" fmla="val 74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010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Continuous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0010" y="7184708"/>
            <a:ext cx="382583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gaps — walk between phases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06722" y="6602611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02104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Structured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02104" y="7184708"/>
            <a:ext cx="382595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Clusters: Oxides, Nitrides, Superconductors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578935" y="6602611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74317" y="679799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Generative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774317" y="7184708"/>
            <a:ext cx="382595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anywhere → new material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66274"/>
            <a:ext cx="7608094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3 — Property Predictor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07" y="2275880"/>
            <a:ext cx="8303300" cy="4705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6919" y="191345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Oracle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36919" y="2482096"/>
            <a:ext cx="42195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the material "blueprint"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decoding.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6919" y="3437930"/>
            <a:ext cx="446484" cy="446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58080" y="3514606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Composition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358080" y="4083248"/>
            <a:ext cx="3498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 count &amp; types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6919" y="4877157"/>
            <a:ext cx="446484" cy="446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58080" y="495383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Lattice Size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0358080" y="5522476"/>
            <a:ext cx="3498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cell dimensions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6919" y="6316385"/>
            <a:ext cx="446484" cy="446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58080" y="639306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Stability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0358080" y="6961703"/>
            <a:ext cx="3498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above hull, band gap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68047"/>
            <a:ext cx="7383780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Module 4 — Decoder &amp; Diffusion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76" y="2195870"/>
            <a:ext cx="8399026" cy="4759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7513" y="1675924"/>
            <a:ext cx="372808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Iterative Refinement from Chaos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513" y="2206585"/>
            <a:ext cx="1027748" cy="1233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41474" y="241208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Atomic Chaos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841474" y="2919413"/>
            <a:ext cx="307705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positions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513" y="3439954"/>
            <a:ext cx="1027748" cy="12333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41474" y="364545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Score Network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10841474" y="4152781"/>
            <a:ext cx="307705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forces guide atoms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513" y="4673322"/>
            <a:ext cx="1027748" cy="15453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841474" y="487882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Langevin Dynamics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10841474" y="5386149"/>
            <a:ext cx="3077051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Gradual cooling, identity refinement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513" y="6218634"/>
            <a:ext cx="1027748" cy="12333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841474" y="642413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 Crystal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10841474" y="6931462"/>
            <a:ext cx="307705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Stable, physically correct output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35437"/>
            <a:ext cx="6099334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Libraries &amp; Technical Stack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626513"/>
            <a:ext cx="13216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tools, workflows, libraries, and deployment infrastructure.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6993" y="2134433"/>
            <a:ext cx="13216414" cy="5459611"/>
          </a:xfrm>
          <a:prstGeom prst="roundRect">
            <a:avLst>
              <a:gd name="adj" fmla="val 155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6543" y="2257544"/>
            <a:ext cx="2704981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Main Framework &amp; Core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6543" y="2681049"/>
            <a:ext cx="6192917" cy="66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tensor math and neural networks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torch.nn.functional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activations and losses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20940" y="2257544"/>
            <a:ext cx="3273385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&amp; Numerical Computing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20940" y="2681049"/>
            <a:ext cx="6192917" cy="102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array math and vector ops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tables and CSV data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preprocessing and splits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6543" y="389012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Visualization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6543" y="4313634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Plotly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plots and analysis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20940" y="3890129"/>
            <a:ext cx="262461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Training &amp; Acceleration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20940" y="4313634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 Lightning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training loops and GPU support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6543" y="480381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Domain Libraries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6543" y="5227320"/>
            <a:ext cx="6192917" cy="102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Torch Geometric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graph neural networks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Pymatgen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CIF parsing and materials logic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ASE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atomic structure handling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20940" y="480381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Utilities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20940" y="5227320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tqdm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progress tracking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6543" y="643640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API &amp; Web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6543" y="6859905"/>
            <a:ext cx="6192917" cy="66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API endpoints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Uvicorn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app server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20940" y="643640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Training Data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520940" y="6859905"/>
            <a:ext cx="619291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Kaggle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dataset source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195"/>
            <a:ext cx="598277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Inputs, Outputs &amp; Impact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697950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from dataset preparation to latent representation and evaluation.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2267545"/>
            <a:ext cx="6455569" cy="1922145"/>
          </a:xfrm>
          <a:prstGeom prst="roundRect">
            <a:avLst>
              <a:gd name="adj" fmla="val 472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361" y="249126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0361" y="2952631"/>
            <a:ext cx="60081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MP20 dataset — 45,000 stable inorganic crystals from Materials Project, filtered to ≤20 atoms per unit cell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18189" y="2267545"/>
            <a:ext cx="6455569" cy="1922145"/>
          </a:xfrm>
          <a:prstGeom prst="roundRect">
            <a:avLst>
              <a:gd name="adj" fmla="val 472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41908" y="249126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41908" y="2952631"/>
            <a:ext cx="60081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CIF files processed via Pymatgen to extract 3D atomic coordinates and lattice vectors, transformed into a periodic graph (atoms as nodes, spatial proximities as edges)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6642" y="4395668"/>
            <a:ext cx="6455569" cy="3223617"/>
          </a:xfrm>
          <a:prstGeom prst="roundRect">
            <a:avLst>
              <a:gd name="adj" fmla="val 281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361" y="461938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0361" y="5080754"/>
            <a:ext cx="60081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Compressed latent vector (z) representing chemical and geometric identity of the material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18189" y="4395668"/>
            <a:ext cx="6455569" cy="3223617"/>
          </a:xfrm>
          <a:prstGeom prst="roundRect">
            <a:avLst>
              <a:gd name="adj" fmla="val 281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1908" y="461938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Metrics &amp; Losses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41908" y="5080754"/>
            <a:ext cx="6008132" cy="231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Reconstruction Losses: Cross-Entropy for atom types, MSE for lattice/positions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 Divergence: regularize latent space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Overlap Penalty: prevent atoms too close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Validity metrics: check if structures are physically possible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Property Prediction Accuracy: energy and band gap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2026-04-24T10:01:06Z</dcterms:created>
  <dcterms:modified xsi:type="dcterms:W3CDTF">2026-04-24T10:01:06Z</dcterms:modified>
</cp:coreProperties>
</file>