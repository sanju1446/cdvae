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Roboto Medium"/>
      <p:regular r:id="rId17"/>
    </p:embeddedFont>
    <p:embeddedFont>
      <p:font typeface="Roboto Medium"/>
      <p:regular r:id="rId18"/>
    </p:embeddedFont>
    <p:embeddedFont>
      <p:font typeface="Roboto Medium"/>
      <p:regular r:id="rId19"/>
    </p:embeddedFont>
    <p:embeddedFont>
      <p:font typeface="Roboto Medium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  <p:embeddedFont>
      <p:font typeface="Robo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svg"/><Relationship Id="rId12" Type="http://schemas.openxmlformats.org/officeDocument/2006/relationships/slideLayout" Target="../slideLayouts/slideLayout5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6050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Crystal Diffusion VAE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0944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Generative AI for Inverse Materials Design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735116"/>
            <a:ext cx="1619012" cy="426244"/>
          </a:xfrm>
          <a:prstGeom prst="roundRect">
            <a:avLst>
              <a:gd name="adj" fmla="val 17880"/>
            </a:avLst>
          </a:prstGeom>
          <a:solidFill>
            <a:srgbClr val="0F163E"/>
          </a:solidFill>
          <a:ln/>
        </p:spPr>
      </p:sp>
      <p:sp>
        <p:nvSpPr>
          <p:cNvPr id="6" name="Text 3"/>
          <p:cNvSpPr/>
          <p:nvPr/>
        </p:nvSpPr>
        <p:spPr>
          <a:xfrm>
            <a:off x="929878" y="4803100"/>
            <a:ext cx="134683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526149" y="4727496"/>
            <a:ext cx="2025253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5A6E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69858" y="4803100"/>
            <a:ext cx="173783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MATERIALS SCIENCE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4750" y="4727496"/>
            <a:ext cx="2614970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5A6E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8458" y="4803100"/>
            <a:ext cx="232755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GRAPH NEURAL NETWORKS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53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07732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Discovering stable crystals with targeted properties is a difficult and resource-intensive challenge in materials science. The space of possible atomic arrangements is vast, and small changes in composition or structure can dramatically affect whether a material is stable, synthesizable, or useful for a given application.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151590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discovery workflows rely on expert intuition, experimentation, and computational screening, but these methods are often slow, expensive, and limited in scale. Even with high-throughput simulations and lab testing, it remains hard to efficiently navigate the combinatorial complexity of crystal design while balancing multiple performance criteria.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495449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There is a strong need for a data-driven approach that can learn from known materials and generate promising new candidates more intelligently. By proposing structures and evaluating their likelihood of stability and performance, such a system can reduce the search space and accelerate materials discovery.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757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Proposed Solution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99980"/>
            <a:ext cx="13042821" cy="3991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address these challenges, we propose an enhanced Crystal Diffusion Variational Autoencoder (CDVAE) framework that transforms material discovery from a manual search into an automated, generative process. Our solution utilizes conditional score-based diffusion to navigate the vast chemical search space, allowing for the de novo generation of 3D crystal structures based solely on a user-defined element composition. Unlike traditional methods, our model employs Annealed Langevin Dynamics to iteratively "refine" random atomic noise into stable crystalline lattices, guided by a neural network that has learned the underlying physics of the MP20 dataset. To ensure physical realism—a common failure point in earlier models—we have implemented "v4" architectural enhancements, including log-space lattice regression and automated atomic overlap penalties. Furthermore, our solution integrates a real-time validation layer that performs bonding analysis and property recomputation, providing researchers with an end-to-end platform that not only suggests new materials but also evaluates their thermodynamic stability and electronic character in seconds, effectively bridging the gap between deep learning theory and experimental synthesis.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5821"/>
            <a:ext cx="60837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V-Shaped Workflow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625" y="2018228"/>
            <a:ext cx="12625030" cy="473749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84546" y="3224954"/>
            <a:ext cx="652135" cy="6521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203535" y="5422241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Decoder + Diffusion</a:t>
            </a:r>
            <a:endParaRPr lang="en-US" sz="23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7120" y="3226177"/>
            <a:ext cx="652135" cy="65213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03678" y="5422241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Property Predictor</a:t>
            </a:r>
            <a:endParaRPr lang="en-US" sz="23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10307" y="3226177"/>
            <a:ext cx="652135" cy="65213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16864" y="5605654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Latent Space</a:t>
            </a:r>
            <a:endParaRPr lang="en-US" sz="23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23493" y="3226177"/>
            <a:ext cx="652135" cy="65213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030050" y="5605654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Encoder</a:t>
            </a:r>
            <a:endParaRPr lang="en-US" sz="23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23636" y="3226177"/>
            <a:ext cx="652135" cy="65213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591065" y="5605654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Input Crystal</a:t>
            </a:r>
            <a:endParaRPr lang="en-US" sz="2300" dirty="0"/>
          </a:p>
        </p:txBody>
      </p:sp>
      <p:sp>
        <p:nvSpPr>
          <p:cNvPr id="14" name="Text 6"/>
          <p:cNvSpPr/>
          <p:nvPr/>
        </p:nvSpPr>
        <p:spPr>
          <a:xfrm>
            <a:off x="793790" y="701087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Complex crystal data is compressed to 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latent point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then reconstructed into a physically valid structure via diffusion.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611505"/>
            <a:ext cx="5274945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Module 1 — The Encoder</a:t>
            </a:r>
            <a:endParaRPr lang="en-US" sz="3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351" y="2149197"/>
            <a:ext cx="8420100" cy="47713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7034" y="1633299"/>
            <a:ext cx="38266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9607034" y="1935599"/>
            <a:ext cx="4318397" cy="2286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6" name="Text 3"/>
          <p:cNvSpPr/>
          <p:nvPr/>
        </p:nvSpPr>
        <p:spPr>
          <a:xfrm>
            <a:off x="9607034" y="2076926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Input Graph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607034" y="2537341"/>
            <a:ext cx="4318397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Atoms as nodes, bonds as edges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7034" y="3124438"/>
            <a:ext cx="38266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607034" y="3426738"/>
            <a:ext cx="4318397" cy="2286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0" name="Text 7"/>
          <p:cNvSpPr/>
          <p:nvPr/>
        </p:nvSpPr>
        <p:spPr>
          <a:xfrm>
            <a:off x="9607034" y="3568065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Periodic GNN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9607034" y="4028480"/>
            <a:ext cx="4318397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Cross-boundary distances via PBC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607034" y="4615577"/>
            <a:ext cx="38266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607034" y="4917877"/>
            <a:ext cx="4318397" cy="2286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4" name="Text 11"/>
          <p:cNvSpPr/>
          <p:nvPr/>
        </p:nvSpPr>
        <p:spPr>
          <a:xfrm>
            <a:off x="9607034" y="5059204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Feature Extraction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9607034" y="5519618"/>
            <a:ext cx="4318397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Atomic numbers → high-dim vectors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607034" y="6106716"/>
            <a:ext cx="38266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607034" y="6409015"/>
            <a:ext cx="4318397" cy="2286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8" name="Text 15"/>
          <p:cNvSpPr/>
          <p:nvPr/>
        </p:nvSpPr>
        <p:spPr>
          <a:xfrm>
            <a:off x="9607034" y="6550342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Bottleneck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9607034" y="7010757"/>
            <a:ext cx="4318397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Compress to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μ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σ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latent sampling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74715"/>
            <a:ext cx="6203037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Module 2 — The Latent Space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628" y="1569839"/>
            <a:ext cx="8264247" cy="4682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4648" y="3419951"/>
            <a:ext cx="2977158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 Continuous Chemical Map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564648" y="3868936"/>
            <a:ext cx="4238506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point encodes a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 material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Smooth interpolation transitions between phases.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34628" y="6602611"/>
            <a:ext cx="4216598" cy="1052155"/>
          </a:xfrm>
          <a:prstGeom prst="roundRect">
            <a:avLst>
              <a:gd name="adj" fmla="val 7498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0010" y="6797993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Continuous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30010" y="7184708"/>
            <a:ext cx="382583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gaps — walk between phases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206722" y="6602611"/>
            <a:ext cx="4216718" cy="1052155"/>
          </a:xfrm>
          <a:prstGeom prst="roundRect">
            <a:avLst>
              <a:gd name="adj" fmla="val 7498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02104" y="6797993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Structured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02104" y="7184708"/>
            <a:ext cx="3825954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Clusters: Oxides, Nitrides, Superconductors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9578935" y="6602611"/>
            <a:ext cx="4216718" cy="1052155"/>
          </a:xfrm>
          <a:prstGeom prst="roundRect">
            <a:avLst>
              <a:gd name="adj" fmla="val 7498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74317" y="6797993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Generative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774317" y="7184708"/>
            <a:ext cx="3825954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Sample anywhere → new material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66274"/>
            <a:ext cx="7608094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Module 3 — Property Predictor</a:t>
            </a:r>
            <a:endParaRPr lang="en-US" sz="4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407" y="2275880"/>
            <a:ext cx="8303300" cy="47051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6919" y="1913453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Oracle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9636919" y="2482096"/>
            <a:ext cx="42195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Predicts the material "blueprint" </a:t>
            </a:r>
            <a:pPr algn="l" indent="0" marL="0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decoding.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6919" y="3437930"/>
            <a:ext cx="446484" cy="4464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358080" y="3514606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Composition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10358080" y="4083248"/>
            <a:ext cx="34984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Atom count &amp; types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36919" y="4877157"/>
            <a:ext cx="446484" cy="4464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358080" y="4953833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Lattice Size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10358080" y="5522476"/>
            <a:ext cx="34984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Unit cell dimensions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36919" y="6316385"/>
            <a:ext cx="446484" cy="4464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358080" y="6393061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Stability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10358080" y="6961703"/>
            <a:ext cx="34984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Energy above hull, band gap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568047"/>
            <a:ext cx="7383780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Module 4 — Decoder &amp; Diffusion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376" y="2195870"/>
            <a:ext cx="8399026" cy="47594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27513" y="1675924"/>
            <a:ext cx="3728085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Iterative Refinement from Chaos</a:t>
            </a:r>
            <a:endParaRPr lang="en-US" sz="2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7513" y="2206585"/>
            <a:ext cx="1027748" cy="1233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841474" y="2412087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Atomic Chaos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10841474" y="2919413"/>
            <a:ext cx="3077051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Random positions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7513" y="3439954"/>
            <a:ext cx="1027748" cy="12333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841474" y="3645456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Score Network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10841474" y="4152781"/>
            <a:ext cx="3077051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Gradient forces guide atoms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7513" y="4673322"/>
            <a:ext cx="1027748" cy="154531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841474" y="4878824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Langevin Dynamics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10841474" y="5386149"/>
            <a:ext cx="3077051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Gradual cooling, identity refinement</a:t>
            </a:r>
            <a:endParaRPr lang="en-US" sz="16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7513" y="6218634"/>
            <a:ext cx="1027748" cy="12333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841474" y="6424136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Valid Crystal</a:t>
            </a:r>
            <a:endParaRPr lang="en-US" sz="2000" dirty="0"/>
          </a:p>
        </p:txBody>
      </p:sp>
      <p:sp>
        <p:nvSpPr>
          <p:cNvPr id="16" name="Text 9"/>
          <p:cNvSpPr/>
          <p:nvPr/>
        </p:nvSpPr>
        <p:spPr>
          <a:xfrm>
            <a:off x="10841474" y="6931462"/>
            <a:ext cx="3077051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Stable, physically correct output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635437"/>
            <a:ext cx="6099334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Libraries &amp; Technical Stack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6993" y="1626513"/>
            <a:ext cx="1321641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tools, workflows, libraries, and deployment infrastructure.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06993" y="2134433"/>
            <a:ext cx="13216414" cy="5459611"/>
          </a:xfrm>
          <a:prstGeom prst="roundRect">
            <a:avLst>
              <a:gd name="adj" fmla="val 1554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6543" y="2257544"/>
            <a:ext cx="2704981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Main Framework &amp; Core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6543" y="2681049"/>
            <a:ext cx="6192917" cy="66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PyTorch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tensor math and neural networks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torch.nn.functional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activations and losses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20940" y="2257544"/>
            <a:ext cx="3273385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 &amp; Numerical Computing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20940" y="2681049"/>
            <a:ext cx="6192917" cy="1024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NumPy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array math and vector ops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Pandas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tables and CSV data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scikit-learn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preprocessing and splits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6543" y="3890129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Visualization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16543" y="4313634"/>
            <a:ext cx="619291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Plotly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plots and analysis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20940" y="3890129"/>
            <a:ext cx="2624614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Training &amp; Acceleration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520940" y="4313634"/>
            <a:ext cx="619291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PyTorch Lightning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training loops and GPU support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16543" y="4803815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Domain Libraries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16543" y="5227320"/>
            <a:ext cx="6192917" cy="1024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Torch Geometric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graph neural networks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Pymatgen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CIF parsing and materials logic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ASE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atomic structure handling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20940" y="4803815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Utilities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520940" y="5227320"/>
            <a:ext cx="619291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tqdm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progress tracking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16543" y="6436400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API &amp; Web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16543" y="6859905"/>
            <a:ext cx="6192917" cy="66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FastAPI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API endpoints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Uvicorn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app server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520940" y="6436400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Training Data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520940" y="6859905"/>
            <a:ext cx="619291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Kaggle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dataset source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10195"/>
            <a:ext cx="5982772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Inputs, Outputs &amp; Impact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6642" y="1697950"/>
            <a:ext cx="1311711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Workflow from dataset preparation to latent representation and evaluation.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6642" y="2267545"/>
            <a:ext cx="6455569" cy="1922145"/>
          </a:xfrm>
          <a:prstGeom prst="roundRect">
            <a:avLst>
              <a:gd name="adj" fmla="val 4724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0361" y="2491264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Dataset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80361" y="2952631"/>
            <a:ext cx="6008132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MP20 dataset — 45,000 stable inorganic crystals from Materials Project, filtered to ≤20 atoms per unit cell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18189" y="2267545"/>
            <a:ext cx="6455569" cy="1922145"/>
          </a:xfrm>
          <a:prstGeom prst="roundRect">
            <a:avLst>
              <a:gd name="adj" fmla="val 4724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41908" y="2491264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Input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641908" y="2952631"/>
            <a:ext cx="6008132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CIF files processed via Pymatgen to extract 3D atomic coordinates and lattice vectors, transformed into a periodic graph (atoms as nodes, spatial proximities as edges)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56642" y="4395668"/>
            <a:ext cx="6455569" cy="3223617"/>
          </a:xfrm>
          <a:prstGeom prst="roundRect">
            <a:avLst>
              <a:gd name="adj" fmla="val 2817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0361" y="4619387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Output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80361" y="5080754"/>
            <a:ext cx="6008132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Compressed latent vector (z) representing chemical and geometric identity of the material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18189" y="4395668"/>
            <a:ext cx="6455569" cy="3223617"/>
          </a:xfrm>
          <a:prstGeom prst="roundRect">
            <a:avLst>
              <a:gd name="adj" fmla="val 2817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41908" y="4619387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Metrics &amp; Losses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641908" y="5080754"/>
            <a:ext cx="6008132" cy="231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Reconstruction Losses: Cross-Entropy for atom types, MSE for lattice/positions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KL Divergence: regularize latent space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Overlap Penalty: prevent atoms too close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Validity metrics: check if structures are physically possible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Property Prediction Accuracy: energy and band gap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2026-04-24T11:01:56Z</dcterms:created>
  <dcterms:modified xsi:type="dcterms:W3CDTF">2026-04-24T11:01:56Z</dcterms:modified>
</cp:coreProperties>
</file>